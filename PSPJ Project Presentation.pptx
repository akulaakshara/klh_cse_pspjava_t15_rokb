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The Seasons Bold" charset="1" panose="00000000000000000000"/>
      <p:regular r:id="rId21"/>
    </p:embeddedFont>
    <p:embeddedFont>
      <p:font typeface="Poppins" charset="1" panose="00000500000000000000"/>
      <p:regular r:id="rId22"/>
    </p:embeddedFont>
    <p:embeddedFont>
      <p:font typeface="Poppins Bold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46963" y="8841055"/>
            <a:ext cx="15541037" cy="704503"/>
            <a:chOff x="0" y="0"/>
            <a:chExt cx="4093113" cy="185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93113" cy="185548"/>
            </a:xfrm>
            <a:custGeom>
              <a:avLst/>
              <a:gdLst/>
              <a:ahLst/>
              <a:cxnLst/>
              <a:rect r="r" b="b" t="t" l="l"/>
              <a:pathLst>
                <a:path h="185548" w="4093113">
                  <a:moveTo>
                    <a:pt x="0" y="0"/>
                  </a:moveTo>
                  <a:lnTo>
                    <a:pt x="4093113" y="0"/>
                  </a:lnTo>
                  <a:lnTo>
                    <a:pt x="4093113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93113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8841055"/>
            <a:ext cx="1822452" cy="704503"/>
            <a:chOff x="0" y="0"/>
            <a:chExt cx="479987" cy="1855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9987" cy="185548"/>
            </a:xfrm>
            <a:custGeom>
              <a:avLst/>
              <a:gdLst/>
              <a:ahLst/>
              <a:cxnLst/>
              <a:rect r="r" b="b" t="t" l="l"/>
              <a:pathLst>
                <a:path h="185548" w="479987">
                  <a:moveTo>
                    <a:pt x="0" y="0"/>
                  </a:moveTo>
                  <a:lnTo>
                    <a:pt x="479987" y="0"/>
                  </a:lnTo>
                  <a:lnTo>
                    <a:pt x="479987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79987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58636" y="514985"/>
            <a:ext cx="9725127" cy="670830"/>
            <a:chOff x="0" y="0"/>
            <a:chExt cx="2561350" cy="176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1350" cy="176680"/>
            </a:xfrm>
            <a:custGeom>
              <a:avLst/>
              <a:gdLst/>
              <a:ahLst/>
              <a:cxnLst/>
              <a:rect r="r" b="b" t="t" l="l"/>
              <a:pathLst>
                <a:path h="176680" w="2561350">
                  <a:moveTo>
                    <a:pt x="0" y="0"/>
                  </a:moveTo>
                  <a:lnTo>
                    <a:pt x="2561350" y="0"/>
                  </a:lnTo>
                  <a:lnTo>
                    <a:pt x="2561350" y="176680"/>
                  </a:lnTo>
                  <a:lnTo>
                    <a:pt x="0" y="176680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61350" cy="214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131131" y="219909"/>
            <a:ext cx="1809271" cy="647328"/>
          </a:xfrm>
          <a:custGeom>
            <a:avLst/>
            <a:gdLst/>
            <a:ahLst/>
            <a:cxnLst/>
            <a:rect r="r" b="b" t="t" l="l"/>
            <a:pathLst>
              <a:path h="647328" w="1809271">
                <a:moveTo>
                  <a:pt x="0" y="0"/>
                </a:moveTo>
                <a:lnTo>
                  <a:pt x="1809271" y="0"/>
                </a:lnTo>
                <a:lnTo>
                  <a:pt x="1809271" y="647328"/>
                </a:lnTo>
                <a:lnTo>
                  <a:pt x="0" y="647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680" t="0" r="-21403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649818" y="1585068"/>
            <a:ext cx="12988364" cy="2517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7"/>
              </a:lnSpc>
            </a:pPr>
            <a:r>
              <a:rPr lang="en-US" sz="7098" b="true">
                <a:solidFill>
                  <a:srgbClr val="36473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Restaurant Order, Kitchen and Billing System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69422"/>
            <a:ext cx="9650694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 SOLVING USING PROGRAMMING (JAVA)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22403" y="6456159"/>
            <a:ext cx="5837484" cy="191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8"/>
              </a:lnSpc>
            </a:pPr>
            <a:r>
              <a:rPr lang="en-US" b="true" sz="2713" u="sng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by:</a:t>
            </a:r>
          </a:p>
          <a:p>
            <a:pPr algn="ctr">
              <a:lnSpc>
                <a:spcPts val="3798"/>
              </a:lnSpc>
            </a:pPr>
            <a:r>
              <a:rPr lang="en-US" sz="2713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S. Tejaswi - 2620030364</a:t>
            </a:r>
          </a:p>
          <a:p>
            <a:pPr algn="ctr">
              <a:lnSpc>
                <a:spcPts val="3798"/>
              </a:lnSpc>
            </a:pPr>
            <a:r>
              <a:rPr lang="en-US" sz="2713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P. Geethika - 2620030370</a:t>
            </a:r>
          </a:p>
          <a:p>
            <a:pPr algn="ctr">
              <a:lnSpc>
                <a:spcPts val="3798"/>
              </a:lnSpc>
            </a:pPr>
            <a:r>
              <a:rPr lang="en-US" sz="2713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Akula Akshara - 2620030502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18653" y="4493375"/>
            <a:ext cx="9650694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ACADEMIC YEAR: 2026-2027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COURSE INSTRUCTOR: Mr. G. Balaiah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15798" y="5717655"/>
            <a:ext cx="9650694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TEAM 15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636" y="514985"/>
            <a:ext cx="11615406" cy="478377"/>
            <a:chOff x="0" y="0"/>
            <a:chExt cx="3059202" cy="125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59202" cy="125992"/>
            </a:xfrm>
            <a:custGeom>
              <a:avLst/>
              <a:gdLst/>
              <a:ahLst/>
              <a:cxnLst/>
              <a:rect r="r" b="b" t="t" l="l"/>
              <a:pathLst>
                <a:path h="125992" w="3059202">
                  <a:moveTo>
                    <a:pt x="0" y="0"/>
                  </a:moveTo>
                  <a:lnTo>
                    <a:pt x="3059202" y="0"/>
                  </a:lnTo>
                  <a:lnTo>
                    <a:pt x="3059202" y="125992"/>
                  </a:lnTo>
                  <a:lnTo>
                    <a:pt x="0" y="125992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59202" cy="164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368" y="3107482"/>
            <a:ext cx="10780414" cy="6150818"/>
            <a:chOff x="0" y="0"/>
            <a:chExt cx="2839286" cy="16199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39286" cy="1619968"/>
            </a:xfrm>
            <a:custGeom>
              <a:avLst/>
              <a:gdLst/>
              <a:ahLst/>
              <a:cxnLst/>
              <a:rect r="r" b="b" t="t" l="l"/>
              <a:pathLst>
                <a:path h="1619968" w="2839286">
                  <a:moveTo>
                    <a:pt x="0" y="0"/>
                  </a:moveTo>
                  <a:lnTo>
                    <a:pt x="2839286" y="0"/>
                  </a:lnTo>
                  <a:lnTo>
                    <a:pt x="2839286" y="1619968"/>
                  </a:lnTo>
                  <a:lnTo>
                    <a:pt x="0" y="161996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39286" cy="16580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33144" y="32073"/>
            <a:ext cx="5850578" cy="6902572"/>
            <a:chOff x="0" y="0"/>
            <a:chExt cx="1540893" cy="18179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0893" cy="1817962"/>
            </a:xfrm>
            <a:custGeom>
              <a:avLst/>
              <a:gdLst/>
              <a:ahLst/>
              <a:cxnLst/>
              <a:rect r="r" b="b" t="t" l="l"/>
              <a:pathLst>
                <a:path h="1817962" w="1540893">
                  <a:moveTo>
                    <a:pt x="0" y="0"/>
                  </a:moveTo>
                  <a:lnTo>
                    <a:pt x="1540893" y="0"/>
                  </a:lnTo>
                  <a:lnTo>
                    <a:pt x="1540893" y="1817962"/>
                  </a:lnTo>
                  <a:lnTo>
                    <a:pt x="0" y="1817962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0893" cy="18560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1398312"/>
            <a:ext cx="9771082" cy="107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2"/>
              </a:lnSpc>
            </a:pPr>
            <a:r>
              <a:rPr lang="en-US" sz="6201" b="true">
                <a:solidFill>
                  <a:srgbClr val="36473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Abstract &amp; Objectives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9510" y="480695"/>
            <a:ext cx="9000085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estaurant Order, Kitchen and Billing System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416685"/>
            <a:ext cx="7347119" cy="394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Restaurant Order, Kitchen and Billing System is a menu-driven Java application developed to simplify basic restaurant operations. It allows users to vi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ew food items, place orders, manage kitchen status, generate bills, and save billing records. The system uses Java programming concepts to improve accuracy and reduce manual effort.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3258680" y="705160"/>
            <a:ext cx="4633598" cy="526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OBJECTIVES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simplify food ordering and billing.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calculate bills accurately.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manage order and kitchen status.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demonstrate Java programming concepts through a practical application.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636" y="514985"/>
            <a:ext cx="12350318" cy="421845"/>
            <a:chOff x="0" y="0"/>
            <a:chExt cx="3252759" cy="1111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2759" cy="111103"/>
            </a:xfrm>
            <a:custGeom>
              <a:avLst/>
              <a:gdLst/>
              <a:ahLst/>
              <a:cxnLst/>
              <a:rect r="r" b="b" t="t" l="l"/>
              <a:pathLst>
                <a:path h="111103" w="3252759">
                  <a:moveTo>
                    <a:pt x="0" y="0"/>
                  </a:moveTo>
                  <a:lnTo>
                    <a:pt x="3252759" y="0"/>
                  </a:lnTo>
                  <a:lnTo>
                    <a:pt x="3252759" y="111103"/>
                  </a:lnTo>
                  <a:lnTo>
                    <a:pt x="0" y="111103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252759" cy="149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3115994"/>
            <a:ext cx="9144000" cy="3433189"/>
            <a:chOff x="0" y="0"/>
            <a:chExt cx="2408296" cy="9042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08296" cy="904214"/>
            </a:xfrm>
            <a:custGeom>
              <a:avLst/>
              <a:gdLst/>
              <a:ahLst/>
              <a:cxnLst/>
              <a:rect r="r" b="b" t="t" l="l"/>
              <a:pathLst>
                <a:path h="904214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904214"/>
                  </a:lnTo>
                  <a:lnTo>
                    <a:pt x="0" y="904214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08296" cy="942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97803" y="1203224"/>
            <a:ext cx="17189544" cy="1123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3"/>
              </a:lnSpc>
            </a:pPr>
            <a:r>
              <a:rPr lang="en-US" sz="6430" b="true">
                <a:solidFill>
                  <a:srgbClr val="36473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Understanding the 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29260"/>
            <a:ext cx="9242600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estaurant Order, Kitchen and Billing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16911" y="3549592"/>
            <a:ext cx="7347119" cy="350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Need for the System: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simplify the food ordering process.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manage customer orders efficiently.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calculate bills accurately.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maintain a record of daily sales.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04712" y="2650155"/>
            <a:ext cx="6822665" cy="4116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2927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Probl</a:t>
            </a:r>
            <a:r>
              <a:rPr lang="en-US" sz="2927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em Statement:</a:t>
            </a:r>
          </a:p>
          <a:p>
            <a:pPr algn="l">
              <a:lnSpc>
                <a:spcPts val="4098"/>
              </a:lnSpc>
            </a:pPr>
          </a:p>
          <a:p>
            <a:pPr algn="l">
              <a:lnSpc>
                <a:spcPts val="4098"/>
              </a:lnSpc>
            </a:pPr>
            <a:r>
              <a:rPr lang="en-US" sz="2927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Managing restaurant orders, kitchen operations and billing manually can be time-consuming and may lead to calculation errors.</a:t>
            </a:r>
          </a:p>
          <a:p>
            <a:pPr algn="l">
              <a:lnSpc>
                <a:spcPts val="4098"/>
              </a:lnSpc>
            </a:pPr>
          </a:p>
          <a:p>
            <a:pPr algn="l">
              <a:lnSpc>
                <a:spcPts val="4098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-555955" y="6766798"/>
            <a:ext cx="9144000" cy="6150818"/>
            <a:chOff x="0" y="0"/>
            <a:chExt cx="2408296" cy="16199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08296" cy="1619968"/>
            </a:xfrm>
            <a:custGeom>
              <a:avLst/>
              <a:gdLst/>
              <a:ahLst/>
              <a:cxnLst/>
              <a:rect r="r" b="b" t="t" l="l"/>
              <a:pathLst>
                <a:path h="1619968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1619968"/>
                  </a:lnTo>
                  <a:lnTo>
                    <a:pt x="0" y="161996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408296" cy="16580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04712" y="6473996"/>
            <a:ext cx="7347119" cy="307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Proposed Solution: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menu-driven Java application that manages food orders, kitchen operations and billing through a simple console interface.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78420" y="514985"/>
            <a:ext cx="12930393" cy="419370"/>
            <a:chOff x="0" y="0"/>
            <a:chExt cx="3405536" cy="1104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5536" cy="110451"/>
            </a:xfrm>
            <a:custGeom>
              <a:avLst/>
              <a:gdLst/>
              <a:ahLst/>
              <a:cxnLst/>
              <a:rect r="r" b="b" t="t" l="l"/>
              <a:pathLst>
                <a:path h="110451" w="3405536">
                  <a:moveTo>
                    <a:pt x="0" y="0"/>
                  </a:moveTo>
                  <a:lnTo>
                    <a:pt x="3405536" y="0"/>
                  </a:lnTo>
                  <a:lnTo>
                    <a:pt x="3405536" y="110451"/>
                  </a:lnTo>
                  <a:lnTo>
                    <a:pt x="0" y="110451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05536" cy="148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3109634"/>
            <a:ext cx="448469" cy="2098598"/>
            <a:chOff x="0" y="0"/>
            <a:chExt cx="118115" cy="5527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115" cy="552717"/>
            </a:xfrm>
            <a:custGeom>
              <a:avLst/>
              <a:gdLst/>
              <a:ahLst/>
              <a:cxnLst/>
              <a:rect r="r" b="b" t="t" l="l"/>
              <a:pathLst>
                <a:path h="552717" w="118115">
                  <a:moveTo>
                    <a:pt x="0" y="0"/>
                  </a:moveTo>
                  <a:lnTo>
                    <a:pt x="118115" y="0"/>
                  </a:lnTo>
                  <a:lnTo>
                    <a:pt x="118115" y="552717"/>
                  </a:lnTo>
                  <a:lnTo>
                    <a:pt x="0" y="552717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8115" cy="590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398312"/>
            <a:ext cx="12228543" cy="107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9"/>
              </a:lnSpc>
            </a:pPr>
            <a:r>
              <a:rPr lang="en-US" sz="6163" b="true">
                <a:solidFill>
                  <a:srgbClr val="36473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Technologies and Concepts Used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29260"/>
            <a:ext cx="9807916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estaurant Order, Kitchen and Billing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67574" y="3311207"/>
            <a:ext cx="7690957" cy="145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7"/>
              </a:lnSpc>
            </a:pPr>
            <a:r>
              <a:rPr lang="en-US" sz="4127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Programming Language:</a:t>
            </a:r>
            <a:r>
              <a:rPr lang="en-US" sz="4127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   Java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771133" y="3109634"/>
            <a:ext cx="448469" cy="6148666"/>
            <a:chOff x="0" y="0"/>
            <a:chExt cx="118115" cy="16194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115" cy="1619402"/>
            </a:xfrm>
            <a:custGeom>
              <a:avLst/>
              <a:gdLst/>
              <a:ahLst/>
              <a:cxnLst/>
              <a:rect r="r" b="b" t="t" l="l"/>
              <a:pathLst>
                <a:path h="1619402" w="118115">
                  <a:moveTo>
                    <a:pt x="0" y="0"/>
                  </a:moveTo>
                  <a:lnTo>
                    <a:pt x="118115" y="0"/>
                  </a:lnTo>
                  <a:lnTo>
                    <a:pt x="118115" y="1619402"/>
                  </a:lnTo>
                  <a:lnTo>
                    <a:pt x="0" y="1619402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8115" cy="1657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638272" y="3052484"/>
            <a:ext cx="6681852" cy="5599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8"/>
              </a:lnSpc>
            </a:pPr>
            <a:r>
              <a:rPr lang="en-US" sz="2291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Java C</a:t>
            </a:r>
            <a:r>
              <a:rPr lang="en-US" sz="2291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oncepts Implemented:</a:t>
            </a:r>
          </a:p>
          <a:p>
            <a:pPr algn="l" marL="494796" indent="-247398" lvl="1">
              <a:lnSpc>
                <a:spcPts val="3208"/>
              </a:lnSpc>
              <a:buFont typeface="Arial"/>
              <a:buChar char="•"/>
            </a:pPr>
            <a:r>
              <a:rPr lang="en-US" sz="2291" u="sng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Variables and Data Types</a:t>
            </a:r>
            <a:r>
              <a:rPr lang="en-US" sz="2291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: Store prices, quantities and order details.</a:t>
            </a:r>
          </a:p>
          <a:p>
            <a:pPr algn="l" marL="494796" indent="-247398" lvl="1">
              <a:lnSpc>
                <a:spcPts val="3208"/>
              </a:lnSpc>
              <a:buFont typeface="Arial"/>
              <a:buChar char="•"/>
            </a:pPr>
            <a:r>
              <a:rPr lang="en-US" sz="2291" u="sng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Conditional Statements</a:t>
            </a:r>
            <a:r>
              <a:rPr lang="en-US" sz="2291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: Handle menu choices and user options.</a:t>
            </a:r>
          </a:p>
          <a:p>
            <a:pPr algn="l" marL="494796" indent="-247398" lvl="1">
              <a:lnSpc>
                <a:spcPts val="3208"/>
              </a:lnSpc>
              <a:buFont typeface="Arial"/>
              <a:buChar char="•"/>
            </a:pPr>
            <a:r>
              <a:rPr lang="en-US" sz="2291" u="sng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Loops</a:t>
            </a:r>
            <a:r>
              <a:rPr lang="en-US" sz="2291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: Repeat menu operations.</a:t>
            </a:r>
          </a:p>
          <a:p>
            <a:pPr algn="l" marL="494796" indent="-247398" lvl="1">
              <a:lnSpc>
                <a:spcPts val="3208"/>
              </a:lnSpc>
              <a:buFont typeface="Arial"/>
              <a:buChar char="•"/>
            </a:pPr>
            <a:r>
              <a:rPr lang="en-US" sz="2291" u="sng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Arrays:</a:t>
            </a:r>
            <a:r>
              <a:rPr lang="en-US" sz="2291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 Store and manage food items and their details.</a:t>
            </a:r>
          </a:p>
          <a:p>
            <a:pPr algn="l" marL="494796" indent="-247398" lvl="1">
              <a:lnSpc>
                <a:spcPts val="3208"/>
              </a:lnSpc>
              <a:buFont typeface="Arial"/>
              <a:buChar char="•"/>
            </a:pPr>
            <a:r>
              <a:rPr lang="en-US" sz="2291" u="sng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Methods</a:t>
            </a:r>
            <a:r>
              <a:rPr lang="en-US" sz="2291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: Organize the program into smaller tasks.</a:t>
            </a:r>
          </a:p>
          <a:p>
            <a:pPr algn="l" marL="494796" indent="-247398" lvl="1">
              <a:lnSpc>
                <a:spcPts val="3208"/>
              </a:lnSpc>
              <a:buFont typeface="Arial"/>
              <a:buChar char="•"/>
            </a:pPr>
            <a:r>
              <a:rPr lang="en-US" sz="2291" u="sng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Classes and Objects:</a:t>
            </a:r>
            <a:r>
              <a:rPr lang="en-US" sz="2291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 Structure the restaurant system.</a:t>
            </a:r>
          </a:p>
          <a:p>
            <a:pPr algn="l" marL="494796" indent="-247398" lvl="1">
              <a:lnSpc>
                <a:spcPts val="3208"/>
              </a:lnSpc>
              <a:buFont typeface="Arial"/>
              <a:buChar char="•"/>
            </a:pPr>
            <a:r>
              <a:rPr lang="en-US" sz="2291" u="sng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Scanner Class</a:t>
            </a:r>
            <a:r>
              <a:rPr lang="en-US" sz="2291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: Accept input from the user.</a:t>
            </a:r>
          </a:p>
          <a:p>
            <a:pPr algn="l">
              <a:lnSpc>
                <a:spcPts val="3208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477169" y="6079192"/>
            <a:ext cx="7419215" cy="1395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7"/>
              </a:lnSpc>
            </a:pPr>
            <a:r>
              <a:rPr lang="en-US" sz="3919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Code Editor:</a:t>
            </a:r>
          </a:p>
          <a:p>
            <a:pPr algn="l">
              <a:lnSpc>
                <a:spcPts val="5487"/>
              </a:lnSpc>
            </a:pPr>
            <a:r>
              <a:rPr lang="en-US" sz="3919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Visual Studio Code (VS Code)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89225"/>
            <a:ext cx="11232338" cy="416032"/>
            <a:chOff x="0" y="0"/>
            <a:chExt cx="2958311" cy="1095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58311" cy="109572"/>
            </a:xfrm>
            <a:custGeom>
              <a:avLst/>
              <a:gdLst/>
              <a:ahLst/>
              <a:cxnLst/>
              <a:rect r="r" b="b" t="t" l="l"/>
              <a:pathLst>
                <a:path h="109572" w="2958311">
                  <a:moveTo>
                    <a:pt x="0" y="0"/>
                  </a:moveTo>
                  <a:lnTo>
                    <a:pt x="2958311" y="0"/>
                  </a:lnTo>
                  <a:lnTo>
                    <a:pt x="2958311" y="109572"/>
                  </a:lnTo>
                  <a:lnTo>
                    <a:pt x="0" y="109572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58311" cy="147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3603379"/>
            <a:ext cx="463384" cy="3441700"/>
            <a:chOff x="0" y="0"/>
            <a:chExt cx="122044" cy="9064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44" cy="906456"/>
            </a:xfrm>
            <a:custGeom>
              <a:avLst/>
              <a:gdLst/>
              <a:ahLst/>
              <a:cxnLst/>
              <a:rect r="r" b="b" t="t" l="l"/>
              <a:pathLst>
                <a:path h="906456" w="122044">
                  <a:moveTo>
                    <a:pt x="0" y="0"/>
                  </a:moveTo>
                  <a:lnTo>
                    <a:pt x="122044" y="0"/>
                  </a:lnTo>
                  <a:lnTo>
                    <a:pt x="122044" y="906456"/>
                  </a:lnTo>
                  <a:lnTo>
                    <a:pt x="0" y="906456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2044" cy="9445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350687"/>
            <a:ext cx="12768412" cy="140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36473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Modules &amp; 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69422"/>
            <a:ext cx="10203638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estaurant Order, Kitchen and Billing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89272" y="3527179"/>
            <a:ext cx="15067684" cy="525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211" indent="-323606" lvl="1">
              <a:lnSpc>
                <a:spcPts val="4196"/>
              </a:lnSpc>
              <a:buAutoNum type="arabicPeriod" startAt="1"/>
            </a:pPr>
            <a:r>
              <a:rPr lang="en-US" sz="2997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Menu Manag</a:t>
            </a:r>
            <a:r>
              <a:rPr lang="en-US" sz="2997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ement – Displays food items and their prices.</a:t>
            </a:r>
          </a:p>
          <a:p>
            <a:pPr algn="l" marL="647211" indent="-323606" lvl="1">
              <a:lnSpc>
                <a:spcPts val="4196"/>
              </a:lnSpc>
              <a:buAutoNum type="arabicPeriod" startAt="1"/>
            </a:pPr>
            <a:r>
              <a:rPr lang="en-US" sz="2997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Order Management – Allows customers to place orders.</a:t>
            </a:r>
          </a:p>
          <a:p>
            <a:pPr algn="l" marL="647211" indent="-323606" lvl="1">
              <a:lnSpc>
                <a:spcPts val="4196"/>
              </a:lnSpc>
              <a:buAutoNum type="arabicPeriod" startAt="1"/>
            </a:pPr>
            <a:r>
              <a:rPr lang="en-US" sz="2997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Order Tracking – Displays the details of placed orders.</a:t>
            </a:r>
          </a:p>
          <a:p>
            <a:pPr algn="l" marL="647211" indent="-323606" lvl="1">
              <a:lnSpc>
                <a:spcPts val="4196"/>
              </a:lnSpc>
              <a:buAutoNum type="arabicPeriod" startAt="1"/>
            </a:pPr>
            <a:r>
              <a:rPr lang="en-US" sz="2997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Kitchen Management – Manages order preparation status.</a:t>
            </a:r>
          </a:p>
          <a:p>
            <a:pPr algn="l" marL="647211" indent="-323606" lvl="1">
              <a:lnSpc>
                <a:spcPts val="4196"/>
              </a:lnSpc>
              <a:buAutoNum type="arabicPeriod" startAt="1"/>
            </a:pPr>
            <a:r>
              <a:rPr lang="en-US" sz="2997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Billing System – Calculates the bill amount, including applicable charges.</a:t>
            </a:r>
          </a:p>
          <a:p>
            <a:pPr algn="l" marL="647211" indent="-323606" lvl="1">
              <a:lnSpc>
                <a:spcPts val="4196"/>
              </a:lnSpc>
              <a:buAutoNum type="arabicPeriod" startAt="1"/>
            </a:pPr>
            <a:r>
              <a:rPr lang="en-US" sz="2997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Food Item Search – Helps find specific food items.</a:t>
            </a:r>
          </a:p>
          <a:p>
            <a:pPr algn="l" marL="647211" indent="-323606" lvl="1">
              <a:lnSpc>
                <a:spcPts val="4196"/>
              </a:lnSpc>
              <a:buAutoNum type="arabicPeriod" startAt="1"/>
            </a:pPr>
            <a:r>
              <a:rPr lang="en-US" sz="2997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Sorting and Sales Summary – Organizes food items and displays sales information.</a:t>
            </a:r>
          </a:p>
          <a:p>
            <a:pPr algn="l" marL="647211" indent="-323606" lvl="1">
              <a:lnSpc>
                <a:spcPts val="4196"/>
              </a:lnSpc>
              <a:buAutoNum type="arabicPeriod" startAt="1"/>
            </a:pPr>
            <a:r>
              <a:rPr lang="en-US" sz="2997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File Handling – Stores restaurant records for future reference.</a:t>
            </a:r>
          </a:p>
          <a:p>
            <a:pPr algn="l">
              <a:lnSpc>
                <a:spcPts val="419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636" y="514985"/>
            <a:ext cx="11728469" cy="450111"/>
            <a:chOff x="0" y="0"/>
            <a:chExt cx="3088980" cy="118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88980" cy="118548"/>
            </a:xfrm>
            <a:custGeom>
              <a:avLst/>
              <a:gdLst/>
              <a:ahLst/>
              <a:cxnLst/>
              <a:rect r="r" b="b" t="t" l="l"/>
              <a:pathLst>
                <a:path h="118548" w="3088980">
                  <a:moveTo>
                    <a:pt x="0" y="0"/>
                  </a:moveTo>
                  <a:lnTo>
                    <a:pt x="3088980" y="0"/>
                  </a:lnTo>
                  <a:lnTo>
                    <a:pt x="3088980" y="118548"/>
                  </a:lnTo>
                  <a:lnTo>
                    <a:pt x="0" y="118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88980" cy="156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96554" y="1189378"/>
            <a:ext cx="16307455" cy="95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61"/>
              </a:lnSpc>
            </a:pPr>
            <a:r>
              <a:rPr lang="en-US" sz="5472" b="true">
                <a:solidFill>
                  <a:srgbClr val="36473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CO1 - Variables, Data Types and Operators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29260"/>
            <a:ext cx="10641133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estaurant Order, Kitchen and Billing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7086" y="2122566"/>
            <a:ext cx="16713829" cy="707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4"/>
              </a:lnSpc>
            </a:pPr>
            <a:r>
              <a:rPr lang="en-US" sz="2874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Concept Used:</a:t>
            </a:r>
          </a:p>
          <a:p>
            <a:pPr algn="l">
              <a:lnSpc>
                <a:spcPts val="4024"/>
              </a:lnSpc>
            </a:pP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Variables store data, data types define the kind of information stored, and operators perform calculations.</a:t>
            </a:r>
          </a:p>
          <a:p>
            <a:pPr algn="l">
              <a:lnSpc>
                <a:spcPts val="4024"/>
              </a:lnSpc>
            </a:pPr>
            <a:r>
              <a:rPr lang="en-US" sz="2874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Implementation in Our Project:</a:t>
            </a:r>
          </a:p>
          <a:p>
            <a:pPr algn="l" marL="620581" indent="-310290" lvl="1">
              <a:lnSpc>
                <a:spcPts val="4024"/>
              </a:lnSpc>
              <a:buFont typeface="Arial"/>
              <a:buChar char="•"/>
            </a:pP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Variables store food prices, quantities and order details.</a:t>
            </a:r>
          </a:p>
          <a:p>
            <a:pPr algn="l" marL="620581" indent="-310290" lvl="1">
              <a:lnSpc>
                <a:spcPts val="4024"/>
              </a:lnSpc>
              <a:buFont typeface="Arial"/>
              <a:buChar char="•"/>
            </a:pPr>
            <a:r>
              <a:rPr lang="en-US" b="true" sz="2874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int</a:t>
            </a: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 stores quantities.</a:t>
            </a:r>
          </a:p>
          <a:p>
            <a:pPr algn="l" marL="620581" indent="-310290" lvl="1">
              <a:lnSpc>
                <a:spcPts val="4024"/>
              </a:lnSpc>
              <a:buFont typeface="Arial"/>
              <a:buChar char="•"/>
            </a:pPr>
            <a:r>
              <a:rPr lang="en-US" b="true" sz="2874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double</a:t>
            </a: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 stores prices and bill amounts.</a:t>
            </a:r>
          </a:p>
          <a:p>
            <a:pPr algn="l" marL="620581" indent="-310290" lvl="1">
              <a:lnSpc>
                <a:spcPts val="4024"/>
              </a:lnSpc>
              <a:buFont typeface="Arial"/>
              <a:buChar char="•"/>
            </a:pP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Arithmetic operators calculate the cost of food items.</a:t>
            </a:r>
          </a:p>
          <a:p>
            <a:pPr algn="l">
              <a:lnSpc>
                <a:spcPts val="4024"/>
              </a:lnSpc>
            </a:pPr>
            <a:r>
              <a:rPr lang="en-US" sz="2874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Example:</a:t>
            </a:r>
          </a:p>
          <a:p>
            <a:pPr algn="l">
              <a:lnSpc>
                <a:spcPts val="4024"/>
              </a:lnSpc>
            </a:pPr>
            <a:r>
              <a:rPr lang="en-US" sz="2874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</a:t>
            </a:r>
            <a:r>
              <a:rPr lang="en-US" sz="2874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double</a:t>
            </a: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 total = price * quantity;</a:t>
            </a:r>
          </a:p>
          <a:p>
            <a:pPr algn="l">
              <a:lnSpc>
                <a:spcPts val="4024"/>
              </a:lnSpc>
            </a:pPr>
            <a:r>
              <a:rPr lang="en-US" sz="2874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Outcome:</a:t>
            </a:r>
          </a:p>
          <a:p>
            <a:pPr algn="l">
              <a:lnSpc>
                <a:spcPts val="4024"/>
              </a:lnSpc>
            </a:pP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These concepts help calculate order costs and manage restaurant information.</a:t>
            </a:r>
          </a:p>
          <a:p>
            <a:pPr algn="l">
              <a:lnSpc>
                <a:spcPts val="4024"/>
              </a:lnSpc>
            </a:pPr>
          </a:p>
          <a:p>
            <a:pPr algn="l">
              <a:lnSpc>
                <a:spcPts val="4024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2746963" y="8841055"/>
            <a:ext cx="15541037" cy="704503"/>
            <a:chOff x="0" y="0"/>
            <a:chExt cx="4093113" cy="1855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93113" cy="185548"/>
            </a:xfrm>
            <a:custGeom>
              <a:avLst/>
              <a:gdLst/>
              <a:ahLst/>
              <a:cxnLst/>
              <a:rect r="r" b="b" t="t" l="l"/>
              <a:pathLst>
                <a:path h="185548" w="4093113">
                  <a:moveTo>
                    <a:pt x="0" y="0"/>
                  </a:moveTo>
                  <a:lnTo>
                    <a:pt x="4093113" y="0"/>
                  </a:lnTo>
                  <a:lnTo>
                    <a:pt x="4093113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93113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8841055"/>
            <a:ext cx="1822452" cy="704503"/>
            <a:chOff x="0" y="0"/>
            <a:chExt cx="479987" cy="1855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9987" cy="185548"/>
            </a:xfrm>
            <a:custGeom>
              <a:avLst/>
              <a:gdLst/>
              <a:ahLst/>
              <a:cxnLst/>
              <a:rect r="r" b="b" t="t" l="l"/>
              <a:pathLst>
                <a:path h="185548" w="479987">
                  <a:moveTo>
                    <a:pt x="0" y="0"/>
                  </a:moveTo>
                  <a:lnTo>
                    <a:pt x="479987" y="0"/>
                  </a:lnTo>
                  <a:lnTo>
                    <a:pt x="479987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79987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636" y="514985"/>
            <a:ext cx="11728469" cy="450111"/>
            <a:chOff x="0" y="0"/>
            <a:chExt cx="3088980" cy="118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88980" cy="118548"/>
            </a:xfrm>
            <a:custGeom>
              <a:avLst/>
              <a:gdLst/>
              <a:ahLst/>
              <a:cxnLst/>
              <a:rect r="r" b="b" t="t" l="l"/>
              <a:pathLst>
                <a:path h="118548" w="3088980">
                  <a:moveTo>
                    <a:pt x="0" y="0"/>
                  </a:moveTo>
                  <a:lnTo>
                    <a:pt x="3088980" y="0"/>
                  </a:lnTo>
                  <a:lnTo>
                    <a:pt x="3088980" y="118548"/>
                  </a:lnTo>
                  <a:lnTo>
                    <a:pt x="0" y="118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88980" cy="156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96554" y="1189378"/>
            <a:ext cx="16307455" cy="95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61"/>
              </a:lnSpc>
            </a:pPr>
            <a:r>
              <a:rPr lang="en-US" sz="5472" b="true">
                <a:solidFill>
                  <a:srgbClr val="36473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CO2 - Control Flow: Selection &amp; Iteration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29260"/>
            <a:ext cx="10641133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estaurant Order, Kitchen and Billing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7086" y="2113041"/>
            <a:ext cx="16216924" cy="6830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4"/>
              </a:lnSpc>
            </a:pPr>
            <a:r>
              <a:rPr lang="en-US" sz="2788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Concepts Used: </a:t>
            </a:r>
            <a:r>
              <a:rPr lang="en-US" sz="2788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Conditional Statements, Loops, switch-case and Iteration</a:t>
            </a:r>
          </a:p>
          <a:p>
            <a:pPr algn="l">
              <a:lnSpc>
                <a:spcPts val="3904"/>
              </a:lnSpc>
            </a:pPr>
            <a:r>
              <a:rPr lang="en-US" sz="2788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Implementation in Our Project:</a:t>
            </a:r>
          </a:p>
          <a:p>
            <a:pPr algn="l" marL="602131" indent="-301066" lvl="1">
              <a:lnSpc>
                <a:spcPts val="3904"/>
              </a:lnSpc>
              <a:buFont typeface="Arial"/>
              <a:buChar char="•"/>
            </a:pPr>
            <a:r>
              <a:rPr lang="en-US" sz="2788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Conditional statements check user choices and other conditions.</a:t>
            </a:r>
          </a:p>
          <a:p>
            <a:pPr algn="l" marL="602131" indent="-301066" lvl="1">
              <a:lnSpc>
                <a:spcPts val="3904"/>
              </a:lnSpc>
              <a:buFont typeface="Arial"/>
              <a:buChar char="•"/>
            </a:pPr>
            <a:r>
              <a:rPr lang="en-US" b="true" sz="2788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switch-case</a:t>
            </a:r>
            <a:r>
              <a:rPr lang="en-US" sz="2788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 can handle different menu options.</a:t>
            </a:r>
          </a:p>
          <a:p>
            <a:pPr algn="l" marL="602131" indent="-301066" lvl="1">
              <a:lnSpc>
                <a:spcPts val="3904"/>
              </a:lnSpc>
              <a:buFont typeface="Arial"/>
              <a:buChar char="•"/>
            </a:pPr>
            <a:r>
              <a:rPr lang="en-US" sz="2788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Loops repeat operations such as displaying menu items and processing orders.</a:t>
            </a:r>
          </a:p>
          <a:p>
            <a:pPr algn="l" marL="602131" indent="-301066" lvl="1">
              <a:lnSpc>
                <a:spcPts val="3904"/>
              </a:lnSpc>
              <a:buFont typeface="Arial"/>
              <a:buChar char="•"/>
            </a:pPr>
            <a:r>
              <a:rPr lang="en-US" sz="2788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Exit conditions control when repetition stops.</a:t>
            </a:r>
          </a:p>
          <a:p>
            <a:pPr algn="l">
              <a:lnSpc>
                <a:spcPts val="3904"/>
              </a:lnSpc>
            </a:pPr>
            <a:r>
              <a:rPr lang="en-US" sz="2788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Example:</a:t>
            </a:r>
          </a:p>
          <a:p>
            <a:pPr algn="l">
              <a:lnSpc>
                <a:spcPts val="3904"/>
              </a:lnSpc>
            </a:pPr>
            <a:r>
              <a:rPr lang="en-US" sz="2788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</a:t>
            </a:r>
            <a:r>
              <a:rPr lang="en-US" sz="2788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switch (choice) {</a:t>
            </a:r>
          </a:p>
          <a:p>
            <a:pPr algn="l">
              <a:lnSpc>
                <a:spcPts val="3904"/>
              </a:lnSpc>
            </a:pPr>
            <a:r>
              <a:rPr lang="en-US" sz="2788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      case 1: // Place an order</a:t>
            </a:r>
          </a:p>
          <a:p>
            <a:pPr algn="l">
              <a:lnSpc>
                <a:spcPts val="3904"/>
              </a:lnSpc>
            </a:pPr>
            <a:r>
              <a:rPr lang="en-US" sz="2788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      break;</a:t>
            </a:r>
          </a:p>
          <a:p>
            <a:pPr algn="l">
              <a:lnSpc>
                <a:spcPts val="3904"/>
              </a:lnSpc>
            </a:pPr>
            <a:r>
              <a:rPr lang="en-US" sz="2788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      }</a:t>
            </a:r>
          </a:p>
          <a:p>
            <a:pPr algn="l">
              <a:lnSpc>
                <a:spcPts val="3904"/>
              </a:lnSpc>
            </a:pPr>
            <a:r>
              <a:rPr lang="en-US" sz="2788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Outcome:</a:t>
            </a:r>
          </a:p>
          <a:p>
            <a:pPr algn="l">
              <a:lnSpc>
                <a:spcPts val="3904"/>
              </a:lnSpc>
            </a:pPr>
            <a:r>
              <a:rPr lang="en-US" sz="2788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Control f</a:t>
            </a:r>
            <a:r>
              <a:rPr lang="en-US" sz="2788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low helps the program make decisions and repeat operations efficiently.</a:t>
            </a:r>
          </a:p>
          <a:p>
            <a:pPr algn="l">
              <a:lnSpc>
                <a:spcPts val="3904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2746963" y="8841055"/>
            <a:ext cx="15541037" cy="704503"/>
            <a:chOff x="0" y="0"/>
            <a:chExt cx="4093113" cy="1855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93113" cy="185548"/>
            </a:xfrm>
            <a:custGeom>
              <a:avLst/>
              <a:gdLst/>
              <a:ahLst/>
              <a:cxnLst/>
              <a:rect r="r" b="b" t="t" l="l"/>
              <a:pathLst>
                <a:path h="185548" w="4093113">
                  <a:moveTo>
                    <a:pt x="0" y="0"/>
                  </a:moveTo>
                  <a:lnTo>
                    <a:pt x="4093113" y="0"/>
                  </a:lnTo>
                  <a:lnTo>
                    <a:pt x="4093113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93113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8841055"/>
            <a:ext cx="1822452" cy="704503"/>
            <a:chOff x="0" y="0"/>
            <a:chExt cx="479987" cy="1855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9987" cy="185548"/>
            </a:xfrm>
            <a:custGeom>
              <a:avLst/>
              <a:gdLst/>
              <a:ahLst/>
              <a:cxnLst/>
              <a:rect r="r" b="b" t="t" l="l"/>
              <a:pathLst>
                <a:path h="185548" w="479987">
                  <a:moveTo>
                    <a:pt x="0" y="0"/>
                  </a:moveTo>
                  <a:lnTo>
                    <a:pt x="479987" y="0"/>
                  </a:lnTo>
                  <a:lnTo>
                    <a:pt x="479987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79987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636" y="514985"/>
            <a:ext cx="11728469" cy="450111"/>
            <a:chOff x="0" y="0"/>
            <a:chExt cx="3088980" cy="118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88980" cy="118548"/>
            </a:xfrm>
            <a:custGeom>
              <a:avLst/>
              <a:gdLst/>
              <a:ahLst/>
              <a:cxnLst/>
              <a:rect r="r" b="b" t="t" l="l"/>
              <a:pathLst>
                <a:path h="118548" w="3088980">
                  <a:moveTo>
                    <a:pt x="0" y="0"/>
                  </a:moveTo>
                  <a:lnTo>
                    <a:pt x="3088980" y="0"/>
                  </a:lnTo>
                  <a:lnTo>
                    <a:pt x="3088980" y="118548"/>
                  </a:lnTo>
                  <a:lnTo>
                    <a:pt x="0" y="118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88980" cy="156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78008" y="1121829"/>
            <a:ext cx="16081292" cy="1709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2"/>
              </a:lnSpc>
            </a:pPr>
            <a:r>
              <a:rPr lang="en-US" sz="4872" b="true">
                <a:solidFill>
                  <a:srgbClr val="36473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CO3 — Decomposition with Methods, Recursion &amp; Arrays</a:t>
            </a:r>
          </a:p>
          <a:p>
            <a:pPr algn="ctr">
              <a:lnSpc>
                <a:spcPts val="682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29260"/>
            <a:ext cx="10641133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estaurant Order, Kitchen and Billing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7086" y="2122566"/>
            <a:ext cx="16713829" cy="707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4"/>
              </a:lnSpc>
            </a:pPr>
            <a:r>
              <a:rPr lang="en-US" sz="2874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Concepts Used:</a:t>
            </a: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 Methods and Arrays</a:t>
            </a:r>
          </a:p>
          <a:p>
            <a:pPr algn="l">
              <a:lnSpc>
                <a:spcPts val="4024"/>
              </a:lnSpc>
            </a:pPr>
            <a:r>
              <a:rPr lang="en-US" sz="2874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Implementation in Our Project:</a:t>
            </a:r>
          </a:p>
          <a:p>
            <a:pPr algn="l" marL="620581" indent="-310290" lvl="1">
              <a:lnSpc>
                <a:spcPts val="4024"/>
              </a:lnSpc>
              <a:buFont typeface="Arial"/>
              <a:buChar char="•"/>
            </a:pP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ethods divide the program into smaller, manageable operations.</a:t>
            </a:r>
          </a:p>
          <a:p>
            <a:pPr algn="l" marL="620581" indent="-310290" lvl="1">
              <a:lnSpc>
                <a:spcPts val="4024"/>
              </a:lnSpc>
              <a:buFont typeface="Arial"/>
              <a:buChar char="•"/>
            </a:pP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Arrays</a:t>
            </a: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 store related information such as food items and prices.</a:t>
            </a:r>
          </a:p>
          <a:p>
            <a:pPr algn="l" marL="620581" indent="-310290" lvl="1">
              <a:lnSpc>
                <a:spcPts val="4024"/>
              </a:lnSpc>
              <a:buFont typeface="Arial"/>
              <a:buChar char="•"/>
            </a:pP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Loops can process multiple elements in an array.</a:t>
            </a:r>
          </a:p>
          <a:p>
            <a:pPr algn="l" marL="620581" indent="-310290" lvl="1">
              <a:lnSpc>
                <a:spcPts val="4024"/>
              </a:lnSpc>
              <a:buFont typeface="Arial"/>
              <a:buChar char="•"/>
            </a:pP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Methods make the code easier to read, test and maintain.</a:t>
            </a:r>
          </a:p>
          <a:p>
            <a:pPr algn="l">
              <a:lnSpc>
                <a:spcPts val="4024"/>
              </a:lnSpc>
            </a:pPr>
            <a:r>
              <a:rPr lang="en-US" sz="2874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Example:</a:t>
            </a:r>
          </a:p>
          <a:p>
            <a:pPr algn="l">
              <a:lnSpc>
                <a:spcPts val="4024"/>
              </a:lnSpc>
            </a:pP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double</a:t>
            </a:r>
            <a:r>
              <a:rPr lang="en-US" sz="2874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[]</a:t>
            </a: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 prices = {100.0, 150.0, 200.0};</a:t>
            </a:r>
          </a:p>
          <a:p>
            <a:pPr algn="l">
              <a:lnSpc>
                <a:spcPts val="4024"/>
              </a:lnSpc>
            </a:pPr>
            <a:r>
              <a:rPr lang="en-US" sz="2874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Outcome:</a:t>
            </a:r>
          </a:p>
          <a:p>
            <a:pPr algn="l">
              <a:lnSpc>
                <a:spcPts val="4024"/>
              </a:lnSpc>
            </a:pP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Met</a:t>
            </a: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hods and arrays help organize restaurant operations and manage multiple food items efficiently.</a:t>
            </a:r>
          </a:p>
          <a:p>
            <a:pPr algn="l">
              <a:lnSpc>
                <a:spcPts val="4024"/>
              </a:lnSpc>
            </a:pPr>
          </a:p>
          <a:p>
            <a:pPr algn="l">
              <a:lnSpc>
                <a:spcPts val="4024"/>
              </a:lnSpc>
            </a:pPr>
          </a:p>
          <a:p>
            <a:pPr algn="l">
              <a:lnSpc>
                <a:spcPts val="4024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2746963" y="8841055"/>
            <a:ext cx="15541037" cy="704503"/>
            <a:chOff x="0" y="0"/>
            <a:chExt cx="4093113" cy="1855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93113" cy="185548"/>
            </a:xfrm>
            <a:custGeom>
              <a:avLst/>
              <a:gdLst/>
              <a:ahLst/>
              <a:cxnLst/>
              <a:rect r="r" b="b" t="t" l="l"/>
              <a:pathLst>
                <a:path h="185548" w="4093113">
                  <a:moveTo>
                    <a:pt x="0" y="0"/>
                  </a:moveTo>
                  <a:lnTo>
                    <a:pt x="4093113" y="0"/>
                  </a:lnTo>
                  <a:lnTo>
                    <a:pt x="4093113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93113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8841055"/>
            <a:ext cx="1822452" cy="704503"/>
            <a:chOff x="0" y="0"/>
            <a:chExt cx="479987" cy="1855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9987" cy="185548"/>
            </a:xfrm>
            <a:custGeom>
              <a:avLst/>
              <a:gdLst/>
              <a:ahLst/>
              <a:cxnLst/>
              <a:rect r="r" b="b" t="t" l="l"/>
              <a:pathLst>
                <a:path h="185548" w="479987">
                  <a:moveTo>
                    <a:pt x="0" y="0"/>
                  </a:moveTo>
                  <a:lnTo>
                    <a:pt x="479987" y="0"/>
                  </a:lnTo>
                  <a:lnTo>
                    <a:pt x="479987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79987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636" y="514985"/>
            <a:ext cx="11728469" cy="450111"/>
            <a:chOff x="0" y="0"/>
            <a:chExt cx="3088980" cy="118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88980" cy="118548"/>
            </a:xfrm>
            <a:custGeom>
              <a:avLst/>
              <a:gdLst/>
              <a:ahLst/>
              <a:cxnLst/>
              <a:rect r="r" b="b" t="t" l="l"/>
              <a:pathLst>
                <a:path h="118548" w="3088980">
                  <a:moveTo>
                    <a:pt x="0" y="0"/>
                  </a:moveTo>
                  <a:lnTo>
                    <a:pt x="3088980" y="0"/>
                  </a:lnTo>
                  <a:lnTo>
                    <a:pt x="3088980" y="118548"/>
                  </a:lnTo>
                  <a:lnTo>
                    <a:pt x="0" y="118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88980" cy="156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48277" y="933450"/>
            <a:ext cx="17591446" cy="1645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9"/>
              </a:lnSpc>
            </a:pPr>
            <a:r>
              <a:rPr lang="en-US" sz="4706" b="true">
                <a:solidFill>
                  <a:srgbClr val="36473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CO4 — Object-Oriented Modelling, Design &amp; Exception Handling</a:t>
            </a:r>
          </a:p>
          <a:p>
            <a:pPr algn="ctr">
              <a:lnSpc>
                <a:spcPts val="658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29260"/>
            <a:ext cx="10641133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estaurant Order, Kitchen and Billing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5792" y="1858411"/>
            <a:ext cx="15916416" cy="7227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2"/>
              </a:lnSpc>
            </a:pPr>
            <a:r>
              <a:rPr lang="en-US" sz="2737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Concepts Used: </a:t>
            </a:r>
            <a:r>
              <a:rPr lang="en-US" sz="2737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737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lasses, Objects, Encapsulation and Exception Handling</a:t>
            </a:r>
          </a:p>
          <a:p>
            <a:pPr algn="l">
              <a:lnSpc>
                <a:spcPts val="3832"/>
              </a:lnSpc>
            </a:pPr>
            <a:r>
              <a:rPr lang="en-US" sz="2737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Implementation in Our Project:</a:t>
            </a:r>
          </a:p>
          <a:p>
            <a:pPr algn="l" marL="590973" indent="-295487" lvl="1">
              <a:lnSpc>
                <a:spcPts val="3832"/>
              </a:lnSpc>
              <a:buFont typeface="Arial"/>
              <a:buChar char="•"/>
            </a:pPr>
            <a:r>
              <a:rPr lang="en-US" sz="2737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Cl</a:t>
            </a:r>
            <a:r>
              <a:rPr lang="en-US" sz="2737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asses can represent restaurant entities such as food items or orders.</a:t>
            </a:r>
          </a:p>
          <a:p>
            <a:pPr algn="l" marL="590973" indent="-295487" lvl="1">
              <a:lnSpc>
                <a:spcPts val="3832"/>
              </a:lnSpc>
              <a:buFont typeface="Arial"/>
              <a:buChar char="•"/>
            </a:pPr>
            <a:r>
              <a:rPr lang="en-US" sz="2737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Objec</a:t>
            </a:r>
            <a:r>
              <a:rPr lang="en-US" sz="2737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ts represent individual instances of a class.</a:t>
            </a:r>
          </a:p>
          <a:p>
            <a:pPr algn="l" marL="590973" indent="-295487" lvl="1">
              <a:lnSpc>
                <a:spcPts val="3832"/>
              </a:lnSpc>
              <a:buFont typeface="Arial"/>
              <a:buChar char="•"/>
            </a:pPr>
            <a:r>
              <a:rPr lang="en-US" sz="2737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737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capsulation groups data and related methods together.</a:t>
            </a:r>
          </a:p>
          <a:p>
            <a:pPr algn="l" marL="590973" indent="-295487" lvl="1">
              <a:lnSpc>
                <a:spcPts val="3832"/>
              </a:lnSpc>
              <a:buFont typeface="Arial"/>
              <a:buChar char="•"/>
            </a:pPr>
            <a:r>
              <a:rPr lang="en-US" sz="2737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Exception handling can manage invalid input or runtime errors.</a:t>
            </a:r>
          </a:p>
          <a:p>
            <a:pPr algn="l">
              <a:lnSpc>
                <a:spcPts val="3832"/>
              </a:lnSpc>
            </a:pPr>
            <a:r>
              <a:rPr lang="en-US" sz="2737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Example:</a:t>
            </a:r>
          </a:p>
          <a:p>
            <a:pPr algn="l">
              <a:lnSpc>
                <a:spcPts val="3832"/>
              </a:lnSpc>
            </a:pPr>
            <a:r>
              <a:rPr lang="en-US" sz="2737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class FoodItem {</a:t>
            </a:r>
          </a:p>
          <a:p>
            <a:pPr algn="l">
              <a:lnSpc>
                <a:spcPts val="3832"/>
              </a:lnSpc>
            </a:pPr>
            <a:r>
              <a:rPr lang="en-US" sz="2737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 String name;</a:t>
            </a:r>
          </a:p>
          <a:p>
            <a:pPr algn="l">
              <a:lnSpc>
                <a:spcPts val="3832"/>
              </a:lnSpc>
            </a:pPr>
            <a:r>
              <a:rPr lang="en-US" sz="2737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37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double price;</a:t>
            </a:r>
          </a:p>
          <a:p>
            <a:pPr algn="l">
              <a:lnSpc>
                <a:spcPts val="3832"/>
              </a:lnSpc>
            </a:pPr>
            <a:r>
              <a:rPr lang="en-US" sz="2737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  <a:p>
            <a:pPr algn="l">
              <a:lnSpc>
                <a:spcPts val="3832"/>
              </a:lnSpc>
            </a:pPr>
            <a:r>
              <a:rPr lang="en-US" sz="2737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Outcome:</a:t>
            </a:r>
          </a:p>
          <a:p>
            <a:pPr algn="l">
              <a:lnSpc>
                <a:spcPts val="3832"/>
              </a:lnSpc>
            </a:pPr>
            <a:r>
              <a:rPr lang="en-US" sz="2737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Obj</a:t>
            </a:r>
            <a:r>
              <a:rPr lang="en-US" sz="2737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ect-oriented programming helps structure a program, while exception handling improves its reliability.</a:t>
            </a:r>
          </a:p>
          <a:p>
            <a:pPr algn="l">
              <a:lnSpc>
                <a:spcPts val="3832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2746963" y="8841055"/>
            <a:ext cx="15541037" cy="704503"/>
            <a:chOff x="0" y="0"/>
            <a:chExt cx="4093113" cy="1855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93113" cy="185548"/>
            </a:xfrm>
            <a:custGeom>
              <a:avLst/>
              <a:gdLst/>
              <a:ahLst/>
              <a:cxnLst/>
              <a:rect r="r" b="b" t="t" l="l"/>
              <a:pathLst>
                <a:path h="185548" w="4093113">
                  <a:moveTo>
                    <a:pt x="0" y="0"/>
                  </a:moveTo>
                  <a:lnTo>
                    <a:pt x="4093113" y="0"/>
                  </a:lnTo>
                  <a:lnTo>
                    <a:pt x="4093113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93113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8841055"/>
            <a:ext cx="1822452" cy="704503"/>
            <a:chOff x="0" y="0"/>
            <a:chExt cx="479987" cy="1855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9987" cy="185548"/>
            </a:xfrm>
            <a:custGeom>
              <a:avLst/>
              <a:gdLst/>
              <a:ahLst/>
              <a:cxnLst/>
              <a:rect r="r" b="b" t="t" l="l"/>
              <a:pathLst>
                <a:path h="185548" w="479987">
                  <a:moveTo>
                    <a:pt x="0" y="0"/>
                  </a:moveTo>
                  <a:lnTo>
                    <a:pt x="479987" y="0"/>
                  </a:lnTo>
                  <a:lnTo>
                    <a:pt x="479987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79987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636" y="514985"/>
            <a:ext cx="11728469" cy="450111"/>
            <a:chOff x="0" y="0"/>
            <a:chExt cx="3088980" cy="118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88980" cy="118548"/>
            </a:xfrm>
            <a:custGeom>
              <a:avLst/>
              <a:gdLst/>
              <a:ahLst/>
              <a:cxnLst/>
              <a:rect r="r" b="b" t="t" l="l"/>
              <a:pathLst>
                <a:path h="118548" w="3088980">
                  <a:moveTo>
                    <a:pt x="0" y="0"/>
                  </a:moveTo>
                  <a:lnTo>
                    <a:pt x="3088980" y="0"/>
                  </a:lnTo>
                  <a:lnTo>
                    <a:pt x="3088980" y="118548"/>
                  </a:lnTo>
                  <a:lnTo>
                    <a:pt x="0" y="118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88980" cy="156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96554" y="1189378"/>
            <a:ext cx="16307455" cy="1916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61"/>
              </a:lnSpc>
            </a:pPr>
            <a:r>
              <a:rPr lang="en-US" sz="5472" b="true">
                <a:solidFill>
                  <a:srgbClr val="36473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CO5 — Strings, Library Algorithms &amp; File I/O</a:t>
            </a:r>
          </a:p>
          <a:p>
            <a:pPr algn="ctr">
              <a:lnSpc>
                <a:spcPts val="7661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29260"/>
            <a:ext cx="10641133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estaurant Order, Kitchen and Billing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6554" y="2433490"/>
            <a:ext cx="16713829" cy="7575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4"/>
              </a:lnSpc>
            </a:pPr>
            <a:r>
              <a:rPr lang="en-US" sz="2874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Concepts Used: </a:t>
            </a: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St</a:t>
            </a: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ring Methods, Searching, Sorting and File Handling</a:t>
            </a:r>
          </a:p>
          <a:p>
            <a:pPr algn="l">
              <a:lnSpc>
                <a:spcPts val="4024"/>
              </a:lnSpc>
            </a:pPr>
            <a:r>
              <a:rPr lang="en-US" sz="2874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Implementation in Our Project:</a:t>
            </a:r>
          </a:p>
          <a:p>
            <a:pPr algn="l" marL="620581" indent="-310290" lvl="1">
              <a:lnSpc>
                <a:spcPts val="4024"/>
              </a:lnSpc>
              <a:buFont typeface="Arial"/>
              <a:buChar char="•"/>
            </a:pP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St</a:t>
            </a: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rings represent food names and other text details.</a:t>
            </a:r>
          </a:p>
          <a:p>
            <a:pPr algn="l" marL="620581" indent="-310290" lvl="1">
              <a:lnSpc>
                <a:spcPts val="4024"/>
              </a:lnSpc>
              <a:buFont typeface="Arial"/>
              <a:buChar char="•"/>
            </a:pP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Str</a:t>
            </a: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ing methods can process or compare text.</a:t>
            </a:r>
          </a:p>
          <a:p>
            <a:pPr algn="l" marL="620581" indent="-310290" lvl="1">
              <a:lnSpc>
                <a:spcPts val="4024"/>
              </a:lnSpc>
              <a:buFont typeface="Arial"/>
              <a:buChar char="•"/>
            </a:pP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Searching and sorting algorithms can organize food items.</a:t>
            </a:r>
          </a:p>
          <a:p>
            <a:pPr algn="l" marL="620581" indent="-310290" lvl="1">
              <a:lnSpc>
                <a:spcPts val="4024"/>
              </a:lnSpc>
              <a:buFont typeface="Arial"/>
              <a:buChar char="•"/>
            </a:pP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File I/O can store and retrieve restaurant records.</a:t>
            </a:r>
          </a:p>
          <a:p>
            <a:pPr algn="l">
              <a:lnSpc>
                <a:spcPts val="4024"/>
              </a:lnSpc>
            </a:pPr>
            <a:r>
              <a:rPr lang="en-US" sz="2874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Example:</a:t>
            </a:r>
          </a:p>
          <a:p>
            <a:pPr algn="l">
              <a:lnSpc>
                <a:spcPts val="4024"/>
              </a:lnSpc>
            </a:pP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String item = "Veg B</a:t>
            </a: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urger";</a:t>
            </a:r>
          </a:p>
          <a:p>
            <a:pPr algn="l">
              <a:lnSpc>
                <a:spcPts val="4024"/>
              </a:lnSpc>
            </a:pP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System.out.println(item.toUpperCase());</a:t>
            </a:r>
          </a:p>
          <a:p>
            <a:pPr algn="l">
              <a:lnSpc>
                <a:spcPts val="4024"/>
              </a:lnSpc>
            </a:pPr>
            <a:r>
              <a:rPr lang="en-US" sz="2874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Outcome:</a:t>
            </a:r>
          </a:p>
          <a:p>
            <a:pPr algn="l">
              <a:lnSpc>
                <a:spcPts val="4024"/>
              </a:lnSpc>
            </a:pP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String op</a:t>
            </a: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erations and library algorithms help process information, while file handling enables persistent storage.</a:t>
            </a:r>
          </a:p>
          <a:p>
            <a:pPr algn="l">
              <a:lnSpc>
                <a:spcPts val="4024"/>
              </a:lnSpc>
            </a:pPr>
          </a:p>
          <a:p>
            <a:pPr algn="l">
              <a:lnSpc>
                <a:spcPts val="4024"/>
              </a:lnSpc>
            </a:pPr>
          </a:p>
          <a:p>
            <a:pPr algn="l">
              <a:lnSpc>
                <a:spcPts val="4024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2746963" y="8841055"/>
            <a:ext cx="15541037" cy="704503"/>
            <a:chOff x="0" y="0"/>
            <a:chExt cx="4093113" cy="1855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93113" cy="185548"/>
            </a:xfrm>
            <a:custGeom>
              <a:avLst/>
              <a:gdLst/>
              <a:ahLst/>
              <a:cxnLst/>
              <a:rect r="r" b="b" t="t" l="l"/>
              <a:pathLst>
                <a:path h="185548" w="4093113">
                  <a:moveTo>
                    <a:pt x="0" y="0"/>
                  </a:moveTo>
                  <a:lnTo>
                    <a:pt x="4093113" y="0"/>
                  </a:lnTo>
                  <a:lnTo>
                    <a:pt x="4093113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93113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8841055"/>
            <a:ext cx="1822452" cy="704503"/>
            <a:chOff x="0" y="0"/>
            <a:chExt cx="479987" cy="1855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9987" cy="185548"/>
            </a:xfrm>
            <a:custGeom>
              <a:avLst/>
              <a:gdLst/>
              <a:ahLst/>
              <a:cxnLst/>
              <a:rect r="r" b="b" t="t" l="l"/>
              <a:pathLst>
                <a:path h="185548" w="479987">
                  <a:moveTo>
                    <a:pt x="0" y="0"/>
                  </a:moveTo>
                  <a:lnTo>
                    <a:pt x="479987" y="0"/>
                  </a:lnTo>
                  <a:lnTo>
                    <a:pt x="479987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79987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636" y="514985"/>
            <a:ext cx="11728469" cy="450111"/>
            <a:chOff x="0" y="0"/>
            <a:chExt cx="3088980" cy="118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88980" cy="118548"/>
            </a:xfrm>
            <a:custGeom>
              <a:avLst/>
              <a:gdLst/>
              <a:ahLst/>
              <a:cxnLst/>
              <a:rect r="r" b="b" t="t" l="l"/>
              <a:pathLst>
                <a:path h="118548" w="3088980">
                  <a:moveTo>
                    <a:pt x="0" y="0"/>
                  </a:moveTo>
                  <a:lnTo>
                    <a:pt x="3088980" y="0"/>
                  </a:lnTo>
                  <a:lnTo>
                    <a:pt x="3088980" y="118548"/>
                  </a:lnTo>
                  <a:lnTo>
                    <a:pt x="0" y="118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88980" cy="156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96554" y="1217953"/>
            <a:ext cx="16562746" cy="148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4"/>
              </a:lnSpc>
            </a:pPr>
            <a:r>
              <a:rPr lang="en-US" sz="4260" b="true">
                <a:solidFill>
                  <a:srgbClr val="36473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CO6 — Functional Programming with Collections &amp; Streams</a:t>
            </a:r>
          </a:p>
          <a:p>
            <a:pPr algn="ctr">
              <a:lnSpc>
                <a:spcPts val="596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29260"/>
            <a:ext cx="10641133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estaurant Order, Kitchen and Billing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7086" y="2179097"/>
            <a:ext cx="16713829" cy="7575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4"/>
              </a:lnSpc>
            </a:pPr>
            <a:r>
              <a:rPr lang="en-US" sz="2874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Concepts Used</a:t>
            </a: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: Collections, Generics, Lambdas and Stream Pipelines</a:t>
            </a:r>
          </a:p>
          <a:p>
            <a:pPr algn="l">
              <a:lnSpc>
                <a:spcPts val="4024"/>
              </a:lnSpc>
            </a:pPr>
            <a:r>
              <a:rPr lang="en-US" sz="2874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Implementation in Our Project:</a:t>
            </a:r>
          </a:p>
          <a:p>
            <a:pPr algn="l" marL="620581" indent="-310290" lvl="1">
              <a:lnSpc>
                <a:spcPts val="4024"/>
              </a:lnSpc>
              <a:buFont typeface="Arial"/>
              <a:buChar char="•"/>
            </a:pP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Collections can store and manage groups of restaurant orders.</a:t>
            </a:r>
          </a:p>
          <a:p>
            <a:pPr algn="l" marL="620581" indent="-310290" lvl="1">
              <a:lnSpc>
                <a:spcPts val="4024"/>
              </a:lnSpc>
              <a:buFont typeface="Arial"/>
              <a:buChar char="•"/>
            </a:pP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Generics provide type-safe data structures.</a:t>
            </a:r>
          </a:p>
          <a:p>
            <a:pPr algn="l" marL="620581" indent="-310290" lvl="1">
              <a:lnSpc>
                <a:spcPts val="4024"/>
              </a:lnSpc>
              <a:buFont typeface="Arial"/>
              <a:buChar char="•"/>
            </a:pP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Lambda expressions can simplify operations on data.</a:t>
            </a:r>
          </a:p>
          <a:p>
            <a:pPr algn="l" marL="620581" indent="-310290" lvl="1">
              <a:lnSpc>
                <a:spcPts val="4024"/>
              </a:lnSpc>
              <a:buFont typeface="Arial"/>
              <a:buChar char="•"/>
            </a:pP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Streams can filter, sort and process collections of items.</a:t>
            </a:r>
          </a:p>
          <a:p>
            <a:pPr algn="l">
              <a:lnSpc>
                <a:spcPts val="4024"/>
              </a:lnSpc>
            </a:pPr>
            <a:r>
              <a:rPr lang="en-US" sz="2874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Example:</a:t>
            </a:r>
          </a:p>
          <a:p>
            <a:pPr algn="l">
              <a:lnSpc>
                <a:spcPts val="4024"/>
              </a:lnSpc>
            </a:pP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List&lt;String&gt; items = new ArrayList&lt;&gt;();</a:t>
            </a:r>
          </a:p>
          <a:p>
            <a:pPr algn="l">
              <a:lnSpc>
                <a:spcPts val="4024"/>
              </a:lnSpc>
            </a:pP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items.add("Veg Burger");</a:t>
            </a:r>
          </a:p>
          <a:p>
            <a:pPr algn="l">
              <a:lnSpc>
                <a:spcPts val="4024"/>
              </a:lnSpc>
            </a:pPr>
          </a:p>
          <a:p>
            <a:pPr algn="l">
              <a:lnSpc>
                <a:spcPts val="4024"/>
              </a:lnSpc>
            </a:pPr>
            <a:r>
              <a:rPr lang="en-US" sz="2874" b="true">
                <a:solidFill>
                  <a:srgbClr val="364735"/>
                </a:solidFill>
                <a:latin typeface="Poppins Bold"/>
                <a:ea typeface="Poppins Bold"/>
                <a:cs typeface="Poppins Bold"/>
                <a:sym typeface="Poppins Bold"/>
              </a:rPr>
              <a:t>Outcome:</a:t>
            </a:r>
          </a:p>
          <a:p>
            <a:pPr algn="l">
              <a:lnSpc>
                <a:spcPts val="4024"/>
              </a:lnSpc>
            </a:pPr>
            <a:r>
              <a:rPr lang="en-US" sz="2874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Collections and functional programming APIs support flexible and efficient data management.</a:t>
            </a:r>
          </a:p>
          <a:p>
            <a:pPr algn="l">
              <a:lnSpc>
                <a:spcPts val="4024"/>
              </a:lnSpc>
            </a:pPr>
          </a:p>
          <a:p>
            <a:pPr algn="l">
              <a:lnSpc>
                <a:spcPts val="4024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2746963" y="8841055"/>
            <a:ext cx="15541037" cy="704503"/>
            <a:chOff x="0" y="0"/>
            <a:chExt cx="4093113" cy="1855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93113" cy="185548"/>
            </a:xfrm>
            <a:custGeom>
              <a:avLst/>
              <a:gdLst/>
              <a:ahLst/>
              <a:cxnLst/>
              <a:rect r="r" b="b" t="t" l="l"/>
              <a:pathLst>
                <a:path h="185548" w="4093113">
                  <a:moveTo>
                    <a:pt x="0" y="0"/>
                  </a:moveTo>
                  <a:lnTo>
                    <a:pt x="4093113" y="0"/>
                  </a:lnTo>
                  <a:lnTo>
                    <a:pt x="4093113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93113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8841055"/>
            <a:ext cx="1822452" cy="704503"/>
            <a:chOff x="0" y="0"/>
            <a:chExt cx="479987" cy="1855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9987" cy="185548"/>
            </a:xfrm>
            <a:custGeom>
              <a:avLst/>
              <a:gdLst/>
              <a:ahLst/>
              <a:cxnLst/>
              <a:rect r="r" b="b" t="t" l="l"/>
              <a:pathLst>
                <a:path h="185548" w="479987">
                  <a:moveTo>
                    <a:pt x="0" y="0"/>
                  </a:moveTo>
                  <a:lnTo>
                    <a:pt x="479987" y="0"/>
                  </a:lnTo>
                  <a:lnTo>
                    <a:pt x="479987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79987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636" y="514985"/>
            <a:ext cx="11615406" cy="478377"/>
            <a:chOff x="0" y="0"/>
            <a:chExt cx="3059202" cy="125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59202" cy="125992"/>
            </a:xfrm>
            <a:custGeom>
              <a:avLst/>
              <a:gdLst/>
              <a:ahLst/>
              <a:cxnLst/>
              <a:rect r="r" b="b" t="t" l="l"/>
              <a:pathLst>
                <a:path h="125992" w="3059202">
                  <a:moveTo>
                    <a:pt x="0" y="0"/>
                  </a:moveTo>
                  <a:lnTo>
                    <a:pt x="3059202" y="0"/>
                  </a:lnTo>
                  <a:lnTo>
                    <a:pt x="3059202" y="125992"/>
                  </a:lnTo>
                  <a:lnTo>
                    <a:pt x="0" y="125992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59202" cy="164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9510" y="2731014"/>
            <a:ext cx="12617351" cy="6527286"/>
            <a:chOff x="0" y="0"/>
            <a:chExt cx="3323088" cy="17191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23088" cy="1719121"/>
            </a:xfrm>
            <a:custGeom>
              <a:avLst/>
              <a:gdLst/>
              <a:ahLst/>
              <a:cxnLst/>
              <a:rect r="r" b="b" t="t" l="l"/>
              <a:pathLst>
                <a:path h="1719121" w="3323088">
                  <a:moveTo>
                    <a:pt x="0" y="0"/>
                  </a:moveTo>
                  <a:lnTo>
                    <a:pt x="3323088" y="0"/>
                  </a:lnTo>
                  <a:lnTo>
                    <a:pt x="3323088" y="1719121"/>
                  </a:lnTo>
                  <a:lnTo>
                    <a:pt x="0" y="1719121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323088" cy="1757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398312"/>
            <a:ext cx="9771082" cy="107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2"/>
              </a:lnSpc>
            </a:pPr>
            <a:r>
              <a:rPr lang="en-US" sz="6201" b="true">
                <a:solidFill>
                  <a:srgbClr val="36473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9510" y="480695"/>
            <a:ext cx="9000085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estaurant Order, Kitchen and Billing System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344393" y="-957255"/>
            <a:ext cx="12436519" cy="5913268"/>
            <a:chOff x="0" y="0"/>
            <a:chExt cx="3275462" cy="15574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75462" cy="1557404"/>
            </a:xfrm>
            <a:custGeom>
              <a:avLst/>
              <a:gdLst/>
              <a:ahLst/>
              <a:cxnLst/>
              <a:rect r="r" b="b" t="t" l="l"/>
              <a:pathLst>
                <a:path h="1557404" w="3275462">
                  <a:moveTo>
                    <a:pt x="0" y="0"/>
                  </a:moveTo>
                  <a:lnTo>
                    <a:pt x="3275462" y="0"/>
                  </a:lnTo>
                  <a:lnTo>
                    <a:pt x="3275462" y="1557404"/>
                  </a:lnTo>
                  <a:lnTo>
                    <a:pt x="0" y="1557404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275462" cy="1595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49025" y="2933821"/>
            <a:ext cx="11336835" cy="5651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3971" indent="-286985" lvl="1">
              <a:lnSpc>
                <a:spcPts val="3721"/>
              </a:lnSpc>
              <a:buFont typeface="Arial"/>
              <a:buChar char="•"/>
            </a:pPr>
            <a:r>
              <a:rPr lang="en-US" sz="26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Developed a menu-driven Java application for r</a:t>
            </a:r>
            <a:r>
              <a:rPr lang="en-US" sz="26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estaurant order management, kitchen operations and billing.</a:t>
            </a:r>
          </a:p>
          <a:p>
            <a:pPr algn="l" marL="573971" indent="-286985" lvl="1">
              <a:lnSpc>
                <a:spcPts val="3721"/>
              </a:lnSpc>
              <a:buFont typeface="Arial"/>
              <a:buChar char="•"/>
            </a:pPr>
            <a:r>
              <a:rPr lang="en-US" sz="26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Applied Java programming concepts such as variables, control statements, loops and methods.</a:t>
            </a:r>
          </a:p>
          <a:p>
            <a:pPr algn="l" marL="573971" indent="-286985" lvl="1">
              <a:lnSpc>
                <a:spcPts val="3721"/>
              </a:lnSpc>
              <a:buFont typeface="Arial"/>
              <a:buChar char="•"/>
            </a:pPr>
            <a:r>
              <a:rPr lang="en-US" sz="26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Simplified order processing and bill calculation through a structured program.</a:t>
            </a:r>
          </a:p>
          <a:p>
            <a:pPr algn="l" marL="573971" indent="-286985" lvl="1">
              <a:lnSpc>
                <a:spcPts val="3721"/>
              </a:lnSpc>
              <a:buFont typeface="Arial"/>
              <a:buChar char="•"/>
            </a:pPr>
            <a:r>
              <a:rPr lang="en-US" sz="26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Gained practical experience in problem-solving, program development and debugging.</a:t>
            </a:r>
          </a:p>
          <a:p>
            <a:pPr algn="l">
              <a:lnSpc>
                <a:spcPts val="3721"/>
              </a:lnSpc>
            </a:pPr>
            <a:r>
              <a:rPr lang="en-US" sz="26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Future Scope:</a:t>
            </a:r>
          </a:p>
          <a:p>
            <a:pPr algn="l">
              <a:lnSpc>
                <a:spcPts val="3721"/>
              </a:lnSpc>
            </a:pPr>
            <a:r>
              <a:rPr lang="en-US" sz="26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system can be enhanced with a graphical user interface, database integration and digital payment support.</a:t>
            </a:r>
          </a:p>
          <a:p>
            <a:pPr algn="l">
              <a:lnSpc>
                <a:spcPts val="3721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00133"/>
            <a:ext cx="11615406" cy="478377"/>
            <a:chOff x="0" y="0"/>
            <a:chExt cx="3059202" cy="125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59202" cy="125992"/>
            </a:xfrm>
            <a:custGeom>
              <a:avLst/>
              <a:gdLst/>
              <a:ahLst/>
              <a:cxnLst/>
              <a:rect r="r" b="b" t="t" l="l"/>
              <a:pathLst>
                <a:path h="125992" w="3059202">
                  <a:moveTo>
                    <a:pt x="0" y="0"/>
                  </a:moveTo>
                  <a:lnTo>
                    <a:pt x="3059202" y="0"/>
                  </a:lnTo>
                  <a:lnTo>
                    <a:pt x="3059202" y="125992"/>
                  </a:lnTo>
                  <a:lnTo>
                    <a:pt x="0" y="125992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59202" cy="164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04655" y="1028700"/>
            <a:ext cx="3877604" cy="3718872"/>
          </a:xfrm>
          <a:custGeom>
            <a:avLst/>
            <a:gdLst/>
            <a:ahLst/>
            <a:cxnLst/>
            <a:rect r="r" b="b" t="t" l="l"/>
            <a:pathLst>
              <a:path h="3718872" w="3877604">
                <a:moveTo>
                  <a:pt x="0" y="0"/>
                </a:moveTo>
                <a:lnTo>
                  <a:pt x="3877603" y="0"/>
                </a:lnTo>
                <a:lnTo>
                  <a:pt x="3877603" y="3718872"/>
                </a:lnTo>
                <a:lnTo>
                  <a:pt x="0" y="3718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324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4655" y="5667052"/>
            <a:ext cx="4220021" cy="3508410"/>
          </a:xfrm>
          <a:custGeom>
            <a:avLst/>
            <a:gdLst/>
            <a:ahLst/>
            <a:cxnLst/>
            <a:rect r="r" b="b" t="t" l="l"/>
            <a:pathLst>
              <a:path h="3508410" w="4220021">
                <a:moveTo>
                  <a:pt x="0" y="0"/>
                </a:moveTo>
                <a:lnTo>
                  <a:pt x="4220021" y="0"/>
                </a:lnTo>
                <a:lnTo>
                  <a:pt x="4220021" y="3508409"/>
                </a:lnTo>
                <a:lnTo>
                  <a:pt x="0" y="35084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982101" y="539322"/>
            <a:ext cx="4524693" cy="7777305"/>
          </a:xfrm>
          <a:custGeom>
            <a:avLst/>
            <a:gdLst/>
            <a:ahLst/>
            <a:cxnLst/>
            <a:rect r="r" b="b" t="t" l="l"/>
            <a:pathLst>
              <a:path h="7777305" w="4524693">
                <a:moveTo>
                  <a:pt x="0" y="0"/>
                </a:moveTo>
                <a:lnTo>
                  <a:pt x="4524693" y="0"/>
                </a:lnTo>
                <a:lnTo>
                  <a:pt x="4524693" y="7777304"/>
                </a:lnTo>
                <a:lnTo>
                  <a:pt x="0" y="77773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7288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478346" y="1028700"/>
            <a:ext cx="5286271" cy="7328718"/>
          </a:xfrm>
          <a:custGeom>
            <a:avLst/>
            <a:gdLst/>
            <a:ahLst/>
            <a:cxnLst/>
            <a:rect r="r" b="b" t="t" l="l"/>
            <a:pathLst>
              <a:path h="7328718" w="5286271">
                <a:moveTo>
                  <a:pt x="0" y="0"/>
                </a:moveTo>
                <a:lnTo>
                  <a:pt x="5286271" y="0"/>
                </a:lnTo>
                <a:lnTo>
                  <a:pt x="5286271" y="7328718"/>
                </a:lnTo>
                <a:lnTo>
                  <a:pt x="0" y="73287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22265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61244" y="268605"/>
            <a:ext cx="9000085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estaurant Order, Kitchen and Billing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6997" y="4845685"/>
            <a:ext cx="2152919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Main menu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0533" y="9201150"/>
            <a:ext cx="2548265" cy="745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8"/>
              </a:lnSpc>
            </a:pPr>
            <a:r>
              <a:rPr lang="en-US" sz="2141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Exits when choice 8 is entered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47349" y="8547918"/>
            <a:ext cx="2548265" cy="111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8"/>
              </a:lnSpc>
            </a:pPr>
            <a:r>
              <a:rPr lang="en-US" sz="2141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shows the food menu when option 1 is chosen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70315" y="8485402"/>
            <a:ext cx="2548265" cy="111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8"/>
              </a:lnSpc>
            </a:pPr>
            <a:r>
              <a:rPr lang="en-US" sz="2141">
                <a:solidFill>
                  <a:srgbClr val="364735"/>
                </a:solidFill>
                <a:latin typeface="Poppins"/>
                <a:ea typeface="Poppins"/>
                <a:cs typeface="Poppins"/>
                <a:sym typeface="Poppins"/>
              </a:rPr>
              <a:t>to place order choose the option ‘2’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636" y="514985"/>
            <a:ext cx="11615406" cy="478377"/>
            <a:chOff x="0" y="0"/>
            <a:chExt cx="3059202" cy="125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59202" cy="125992"/>
            </a:xfrm>
            <a:custGeom>
              <a:avLst/>
              <a:gdLst/>
              <a:ahLst/>
              <a:cxnLst/>
              <a:rect r="r" b="b" t="t" l="l"/>
              <a:pathLst>
                <a:path h="125992" w="3059202">
                  <a:moveTo>
                    <a:pt x="0" y="0"/>
                  </a:moveTo>
                  <a:lnTo>
                    <a:pt x="3059202" y="0"/>
                  </a:lnTo>
                  <a:lnTo>
                    <a:pt x="3059202" y="125992"/>
                  </a:lnTo>
                  <a:lnTo>
                    <a:pt x="0" y="125992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59202" cy="164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9510" y="2731014"/>
            <a:ext cx="7448550" cy="5483424"/>
            <a:chOff x="0" y="0"/>
            <a:chExt cx="1961758" cy="14441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61758" cy="1444194"/>
            </a:xfrm>
            <a:custGeom>
              <a:avLst/>
              <a:gdLst/>
              <a:ahLst/>
              <a:cxnLst/>
              <a:rect r="r" b="b" t="t" l="l"/>
              <a:pathLst>
                <a:path h="1444194" w="1961758">
                  <a:moveTo>
                    <a:pt x="0" y="0"/>
                  </a:moveTo>
                  <a:lnTo>
                    <a:pt x="1961758" y="0"/>
                  </a:lnTo>
                  <a:lnTo>
                    <a:pt x="1961758" y="1444194"/>
                  </a:lnTo>
                  <a:lnTo>
                    <a:pt x="0" y="1444194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61758" cy="148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97830" y="3300017"/>
            <a:ext cx="5599291" cy="4199468"/>
          </a:xfrm>
          <a:custGeom>
            <a:avLst/>
            <a:gdLst/>
            <a:ahLst/>
            <a:cxnLst/>
            <a:rect r="r" b="b" t="t" l="l"/>
            <a:pathLst>
              <a:path h="4199468" w="5599291">
                <a:moveTo>
                  <a:pt x="0" y="0"/>
                </a:moveTo>
                <a:lnTo>
                  <a:pt x="5599291" y="0"/>
                </a:lnTo>
                <a:lnTo>
                  <a:pt x="5599291" y="4199468"/>
                </a:lnTo>
                <a:lnTo>
                  <a:pt x="0" y="4199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398312"/>
            <a:ext cx="9771082" cy="107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2"/>
              </a:lnSpc>
            </a:pPr>
            <a:r>
              <a:rPr lang="en-US" sz="6201" b="true">
                <a:solidFill>
                  <a:srgbClr val="36473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Geotag photo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9510" y="480695"/>
            <a:ext cx="9000085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estaurant Order, Kitchen and Billing System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44000" y="2731014"/>
            <a:ext cx="7448550" cy="5483424"/>
            <a:chOff x="0" y="0"/>
            <a:chExt cx="1961758" cy="14441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61758" cy="1444194"/>
            </a:xfrm>
            <a:custGeom>
              <a:avLst/>
              <a:gdLst/>
              <a:ahLst/>
              <a:cxnLst/>
              <a:rect r="r" b="b" t="t" l="l"/>
              <a:pathLst>
                <a:path h="1444194" w="1961758">
                  <a:moveTo>
                    <a:pt x="0" y="0"/>
                  </a:moveTo>
                  <a:lnTo>
                    <a:pt x="1961758" y="0"/>
                  </a:lnTo>
                  <a:lnTo>
                    <a:pt x="1961758" y="1444194"/>
                  </a:lnTo>
                  <a:lnTo>
                    <a:pt x="0" y="1444194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61758" cy="148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990768" y="1398312"/>
            <a:ext cx="9771082" cy="107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2"/>
              </a:lnSpc>
            </a:pPr>
            <a:r>
              <a:rPr lang="en-US" sz="6201" b="true">
                <a:solidFill>
                  <a:srgbClr val="36473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Github Link: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89595" y="4101411"/>
            <a:ext cx="6195763" cy="172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1"/>
              </a:lnSpc>
            </a:pPr>
            <a:r>
              <a:rPr lang="en-US" sz="32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https://github.com/AkulaAkshara/KLH_CSE_PSPJAVA_T15_ROKB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1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46963" y="8841055"/>
            <a:ext cx="15541037" cy="704503"/>
            <a:chOff x="0" y="0"/>
            <a:chExt cx="4093113" cy="185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93113" cy="185548"/>
            </a:xfrm>
            <a:custGeom>
              <a:avLst/>
              <a:gdLst/>
              <a:ahLst/>
              <a:cxnLst/>
              <a:rect r="r" b="b" t="t" l="l"/>
              <a:pathLst>
                <a:path h="185548" w="4093113">
                  <a:moveTo>
                    <a:pt x="0" y="0"/>
                  </a:moveTo>
                  <a:lnTo>
                    <a:pt x="4093113" y="0"/>
                  </a:lnTo>
                  <a:lnTo>
                    <a:pt x="4093113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93113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387001" y="3066064"/>
            <a:ext cx="9513998" cy="2254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00"/>
              </a:lnSpc>
            </a:pPr>
            <a:r>
              <a:rPr lang="en-US" sz="12500" b="true">
                <a:solidFill>
                  <a:srgbClr val="36473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Thank You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8841055"/>
            <a:ext cx="1822452" cy="704503"/>
            <a:chOff x="0" y="0"/>
            <a:chExt cx="479987" cy="1855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9987" cy="185548"/>
            </a:xfrm>
            <a:custGeom>
              <a:avLst/>
              <a:gdLst/>
              <a:ahLst/>
              <a:cxnLst/>
              <a:rect r="r" b="b" t="t" l="l"/>
              <a:pathLst>
                <a:path h="185548" w="479987">
                  <a:moveTo>
                    <a:pt x="0" y="0"/>
                  </a:moveTo>
                  <a:lnTo>
                    <a:pt x="479987" y="0"/>
                  </a:lnTo>
                  <a:lnTo>
                    <a:pt x="479987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79987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703135"/>
            <a:ext cx="11560304" cy="350937"/>
            <a:chOff x="0" y="0"/>
            <a:chExt cx="3044689" cy="924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44689" cy="92428"/>
            </a:xfrm>
            <a:custGeom>
              <a:avLst/>
              <a:gdLst/>
              <a:ahLst/>
              <a:cxnLst/>
              <a:rect r="r" b="b" t="t" l="l"/>
              <a:pathLst>
                <a:path h="92428" w="3044689">
                  <a:moveTo>
                    <a:pt x="0" y="0"/>
                  </a:moveTo>
                  <a:lnTo>
                    <a:pt x="3044689" y="0"/>
                  </a:lnTo>
                  <a:lnTo>
                    <a:pt x="3044689" y="92428"/>
                  </a:lnTo>
                  <a:lnTo>
                    <a:pt x="0" y="92428"/>
                  </a:lnTo>
                  <a:close/>
                </a:path>
              </a:pathLst>
            </a:custGeom>
            <a:solidFill>
              <a:srgbClr val="36473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44689" cy="130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23605" y="580788"/>
            <a:ext cx="10442009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estaurant Order, Kitchen and Billing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DAHYEP7PDSo</dc:identifier>
  <dcterms:modified xsi:type="dcterms:W3CDTF">2011-08-01T06:04:30Z</dcterms:modified>
  <cp:revision>1</cp:revision>
  <dc:title>PSPJ Project Presentation</dc:title>
</cp:coreProperties>
</file>